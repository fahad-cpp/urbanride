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0"/>
          <p:cNvSpPr/>
          <p:nvPr/>
        </p:nvSpPr>
        <p:spPr>
          <a:xfrm>
            <a:off x="0" y="0"/>
            <a:ext cx="4857840" cy="2877840"/>
          </a:xfrm>
          <a:custGeom>
            <a:avLst/>
            <a:gdLst>
              <a:gd name="textAreaLeft" fmla="*/ 0 w 4857840"/>
              <a:gd name="textAreaRight" fmla="*/ 4860360 w 4857840"/>
              <a:gd name="textAreaTop" fmla="*/ 0 h 2877840"/>
              <a:gd name="textAreaBottom" fmla="*/ 2880360 h 287784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" name="Freeform: Shape 11"/>
          <p:cNvSpPr/>
          <p:nvPr/>
        </p:nvSpPr>
        <p:spPr>
          <a:xfrm>
            <a:off x="4320000" y="0"/>
            <a:ext cx="5757840" cy="2157840"/>
          </a:xfrm>
          <a:custGeom>
            <a:avLst/>
            <a:gdLst>
              <a:gd name="textAreaLeft" fmla="*/ 0 w 5757840"/>
              <a:gd name="textAreaRight" fmla="*/ 5760360 w 5757840"/>
              <a:gd name="textAreaTop" fmla="*/ 0 h 2157840"/>
              <a:gd name="textAreaBottom" fmla="*/ 2160360 h 215784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" name="Freeform: Shape 1"/>
          <p:cNvSpPr/>
          <p:nvPr/>
        </p:nvSpPr>
        <p:spPr>
          <a:xfrm>
            <a:off x="5580000" y="1260000"/>
            <a:ext cx="4497840" cy="3777840"/>
          </a:xfrm>
          <a:custGeom>
            <a:avLst/>
            <a:gdLst>
              <a:gd name="textAreaLeft" fmla="*/ 0 w 4497840"/>
              <a:gd name="textAreaRight" fmla="*/ 4500360 w 4497840"/>
              <a:gd name="textAreaTop" fmla="*/ 0 h 3777840"/>
              <a:gd name="textAreaBottom" fmla="*/ 3780360 h 377784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5" name="Freeform: Shape 2"/>
          <p:cNvSpPr/>
          <p:nvPr/>
        </p:nvSpPr>
        <p:spPr>
          <a:xfrm>
            <a:off x="5580000" y="3060000"/>
            <a:ext cx="4497840" cy="2607840"/>
          </a:xfrm>
          <a:custGeom>
            <a:avLst/>
            <a:gdLst>
              <a:gd name="textAreaLeft" fmla="*/ 0 w 4497840"/>
              <a:gd name="textAreaRight" fmla="*/ 4500360 w 4497840"/>
              <a:gd name="textAreaTop" fmla="*/ 0 h 2607840"/>
              <a:gd name="textAreaBottom" fmla="*/ 2610360 h 260784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6" name="Freeform: Shape 3"/>
          <p:cNvSpPr/>
          <p:nvPr/>
        </p:nvSpPr>
        <p:spPr>
          <a:xfrm>
            <a:off x="0" y="3762000"/>
            <a:ext cx="5757840" cy="1905840"/>
          </a:xfrm>
          <a:custGeom>
            <a:avLst/>
            <a:gdLst>
              <a:gd name="textAreaLeft" fmla="*/ 0 w 5757840"/>
              <a:gd name="textAreaRight" fmla="*/ 5760360 w 5757840"/>
              <a:gd name="textAreaTop" fmla="*/ 0 h 1905840"/>
              <a:gd name="textAreaBottom" fmla="*/ 1908360 h 190584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7" name="Freeform: Shape 4"/>
          <p:cNvSpPr/>
          <p:nvPr/>
        </p:nvSpPr>
        <p:spPr>
          <a:xfrm>
            <a:off x="0" y="540000"/>
            <a:ext cx="4317840" cy="3777840"/>
          </a:xfrm>
          <a:custGeom>
            <a:avLst/>
            <a:gdLst>
              <a:gd name="textAreaLeft" fmla="*/ 0 w 4317840"/>
              <a:gd name="textAreaRight" fmla="*/ 4320360 w 4317840"/>
              <a:gd name="textAreaTop" fmla="*/ 0 h 3777840"/>
              <a:gd name="textAreaBottom" fmla="*/ 3780360 h 377784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346526-8619-4ED9-92B6-A7DA6BE61774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74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848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42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0"/>
          <p:cNvSpPr/>
          <p:nvPr/>
        </p:nvSpPr>
        <p:spPr>
          <a:xfrm>
            <a:off x="0" y="0"/>
            <a:ext cx="4857840" cy="2877840"/>
          </a:xfrm>
          <a:custGeom>
            <a:avLst/>
            <a:gdLst>
              <a:gd name="textAreaLeft" fmla="*/ 0 w 4857840"/>
              <a:gd name="textAreaRight" fmla="*/ 4860360 w 4857840"/>
              <a:gd name="textAreaTop" fmla="*/ 0 h 2877840"/>
              <a:gd name="textAreaBottom" fmla="*/ 2880360 h 287784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4" name="Freeform: Shape 11"/>
          <p:cNvSpPr/>
          <p:nvPr/>
        </p:nvSpPr>
        <p:spPr>
          <a:xfrm>
            <a:off x="4320000" y="0"/>
            <a:ext cx="5757840" cy="2157840"/>
          </a:xfrm>
          <a:custGeom>
            <a:avLst/>
            <a:gdLst>
              <a:gd name="textAreaLeft" fmla="*/ 0 w 5757840"/>
              <a:gd name="textAreaRight" fmla="*/ 5760360 w 5757840"/>
              <a:gd name="textAreaTop" fmla="*/ 0 h 2157840"/>
              <a:gd name="textAreaBottom" fmla="*/ 2160360 h 215784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5" name="Freeform: Shape 12"/>
          <p:cNvSpPr/>
          <p:nvPr/>
        </p:nvSpPr>
        <p:spPr>
          <a:xfrm>
            <a:off x="5580000" y="1260000"/>
            <a:ext cx="4497840" cy="3777840"/>
          </a:xfrm>
          <a:custGeom>
            <a:avLst/>
            <a:gdLst>
              <a:gd name="textAreaLeft" fmla="*/ 0 w 4497840"/>
              <a:gd name="textAreaRight" fmla="*/ 4500360 w 4497840"/>
              <a:gd name="textAreaTop" fmla="*/ 0 h 3777840"/>
              <a:gd name="textAreaBottom" fmla="*/ 3780360 h 377784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6" name="Freeform: Shape 13"/>
          <p:cNvSpPr/>
          <p:nvPr/>
        </p:nvSpPr>
        <p:spPr>
          <a:xfrm>
            <a:off x="5580000" y="3060000"/>
            <a:ext cx="4497840" cy="2607840"/>
          </a:xfrm>
          <a:custGeom>
            <a:avLst/>
            <a:gdLst>
              <a:gd name="textAreaLeft" fmla="*/ 0 w 4497840"/>
              <a:gd name="textAreaRight" fmla="*/ 4500360 w 4497840"/>
              <a:gd name="textAreaTop" fmla="*/ 0 h 2607840"/>
              <a:gd name="textAreaBottom" fmla="*/ 2610360 h 260784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7" name="Freeform: Shape 14"/>
          <p:cNvSpPr/>
          <p:nvPr/>
        </p:nvSpPr>
        <p:spPr>
          <a:xfrm>
            <a:off x="0" y="3762000"/>
            <a:ext cx="5757840" cy="1905840"/>
          </a:xfrm>
          <a:custGeom>
            <a:avLst/>
            <a:gdLst>
              <a:gd name="textAreaLeft" fmla="*/ 0 w 5757840"/>
              <a:gd name="textAreaRight" fmla="*/ 5760360 w 5757840"/>
              <a:gd name="textAreaTop" fmla="*/ 0 h 1905840"/>
              <a:gd name="textAreaBottom" fmla="*/ 1908360 h 190584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8" name="Freeform: Shape 15"/>
          <p:cNvSpPr/>
          <p:nvPr/>
        </p:nvSpPr>
        <p:spPr>
          <a:xfrm>
            <a:off x="0" y="540000"/>
            <a:ext cx="4317840" cy="3777840"/>
          </a:xfrm>
          <a:custGeom>
            <a:avLst/>
            <a:gdLst>
              <a:gd name="textAreaLeft" fmla="*/ 0 w 4317840"/>
              <a:gd name="textAreaRight" fmla="*/ 4320360 w 4317840"/>
              <a:gd name="textAreaTop" fmla="*/ 0 h 3777840"/>
              <a:gd name="textAreaBottom" fmla="*/ 3780360 h 377784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BB049E-545A-490C-97F4-94102CE6A9CC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74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848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42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1"/>
          <p:cNvSpPr/>
          <p:nvPr/>
        </p:nvSpPr>
        <p:spPr>
          <a:xfrm>
            <a:off x="0" y="0"/>
            <a:ext cx="3273840" cy="3237840"/>
          </a:xfrm>
          <a:custGeom>
            <a:avLst/>
            <a:gdLst>
              <a:gd name="textAreaLeft" fmla="*/ 0 w 3273840"/>
              <a:gd name="textAreaRight" fmla="*/ 3276360 w 3273840"/>
              <a:gd name="textAreaTop" fmla="*/ 0 h 3237840"/>
              <a:gd name="textAreaBottom" fmla="*/ 3240360 h 3237840"/>
            </a:gdLst>
            <a:ahLst/>
            <a:cxnLst/>
            <a:rect l="textAreaLeft" t="textAreaTop" r="textAreaRight" b="textAreaBottom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5" name="Freeform: Shape 22"/>
          <p:cNvSpPr/>
          <p:nvPr/>
        </p:nvSpPr>
        <p:spPr>
          <a:xfrm>
            <a:off x="3240000" y="0"/>
            <a:ext cx="5397840" cy="1077840"/>
          </a:xfrm>
          <a:custGeom>
            <a:avLst/>
            <a:gdLst>
              <a:gd name="textAreaLeft" fmla="*/ 0 w 5397840"/>
              <a:gd name="textAreaRight" fmla="*/ 5400360 w 5397840"/>
              <a:gd name="textAreaTop" fmla="*/ 0 h 1077840"/>
              <a:gd name="textAreaBottom" fmla="*/ 1080360 h 1077840"/>
            </a:gdLst>
            <a:ahLst/>
            <a:cxnLst/>
            <a:rect l="textAreaLeft" t="textAreaTop" r="textAreaRight" b="textAreaBottom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6" name="Freeform: Shape 23"/>
          <p:cNvSpPr/>
          <p:nvPr/>
        </p:nvSpPr>
        <p:spPr>
          <a:xfrm>
            <a:off x="6120000" y="0"/>
            <a:ext cx="3957840" cy="3777840"/>
          </a:xfrm>
          <a:custGeom>
            <a:avLst/>
            <a:gdLst>
              <a:gd name="textAreaLeft" fmla="*/ 0 w 3957840"/>
              <a:gd name="textAreaRight" fmla="*/ 3960360 w 3957840"/>
              <a:gd name="textAreaTop" fmla="*/ 0 h 3777840"/>
              <a:gd name="textAreaBottom" fmla="*/ 3780360 h 3777840"/>
            </a:gdLst>
            <a:ahLst/>
            <a:cxnLst/>
            <a:rect l="textAreaLeft" t="textAreaTop" r="textAreaRight" b="textAreaBottom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7" name="Freeform: Shape 24"/>
          <p:cNvSpPr/>
          <p:nvPr/>
        </p:nvSpPr>
        <p:spPr>
          <a:xfrm>
            <a:off x="6840000" y="2520000"/>
            <a:ext cx="3237840" cy="3147840"/>
          </a:xfrm>
          <a:custGeom>
            <a:avLst/>
            <a:gdLst>
              <a:gd name="textAreaLeft" fmla="*/ 0 w 3237840"/>
              <a:gd name="textAreaRight" fmla="*/ 3240360 w 3237840"/>
              <a:gd name="textAreaTop" fmla="*/ 0 h 3147840"/>
              <a:gd name="textAreaBottom" fmla="*/ 3150360 h 3147840"/>
            </a:gdLst>
            <a:ahLst/>
            <a:cxnLst/>
            <a:rect l="textAreaLeft" t="textAreaTop" r="textAreaRight" b="textAreaBottom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8" name="Freeform: Shape 25"/>
          <p:cNvSpPr/>
          <p:nvPr/>
        </p:nvSpPr>
        <p:spPr>
          <a:xfrm>
            <a:off x="1800000" y="4500000"/>
            <a:ext cx="5037840" cy="1167840"/>
          </a:xfrm>
          <a:custGeom>
            <a:avLst/>
            <a:gdLst>
              <a:gd name="textAreaLeft" fmla="*/ 0 w 5037840"/>
              <a:gd name="textAreaRight" fmla="*/ 5040360 w 5037840"/>
              <a:gd name="textAreaTop" fmla="*/ 0 h 1167840"/>
              <a:gd name="textAreaBottom" fmla="*/ 1170360 h 1167840"/>
            </a:gdLst>
            <a:ahLst/>
            <a:cxnLst/>
            <a:rect l="textAreaLeft" t="textAreaTop" r="textAreaRight" b="textAreaBottom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29" name="Freeform: Shape 26"/>
          <p:cNvSpPr/>
          <p:nvPr/>
        </p:nvSpPr>
        <p:spPr>
          <a:xfrm>
            <a:off x="0" y="2160000"/>
            <a:ext cx="3993840" cy="3507840"/>
          </a:xfrm>
          <a:custGeom>
            <a:avLst/>
            <a:gdLst>
              <a:gd name="textAreaLeft" fmla="*/ 0 w 3993840"/>
              <a:gd name="textAreaRight" fmla="*/ 3996360 w 3993840"/>
              <a:gd name="textAreaTop" fmla="*/ 0 h 3507840"/>
              <a:gd name="textAreaBottom" fmla="*/ 3510360 h 3507840"/>
            </a:gdLst>
            <a:ahLst/>
            <a:cxnLst/>
            <a:rect l="textAreaLeft" t="textAreaTop" r="textAreaRight" b="textAreaBottom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597B01-F332-4145-BA9C-D6C2C0E06FC6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17480" cy="107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17480" cy="251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499"/>
              </a:spcBef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99"/>
              </a:spcBef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499"/>
              </a:spcBef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2"/>
          <p:cNvSpPr/>
          <p:nvPr/>
        </p:nvSpPr>
        <p:spPr>
          <a:xfrm>
            <a:off x="0" y="0"/>
            <a:ext cx="1977840" cy="3417840"/>
          </a:xfrm>
          <a:custGeom>
            <a:avLst/>
            <a:gdLst>
              <a:gd name="textAreaLeft" fmla="*/ 0 w 1977840"/>
              <a:gd name="textAreaRight" fmla="*/ 1980360 w 1977840"/>
              <a:gd name="textAreaTop" fmla="*/ 0 h 3417840"/>
              <a:gd name="textAreaBottom" fmla="*/ 3420360 h 3417840"/>
            </a:gdLst>
            <a:ahLst/>
            <a:cxnLst/>
            <a:rect l="textAreaLeft" t="textAreaTop" r="textAreaRight" b="textAreaBottom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6" name="Freeform: Shape 33"/>
          <p:cNvSpPr/>
          <p:nvPr/>
        </p:nvSpPr>
        <p:spPr>
          <a:xfrm>
            <a:off x="2340000" y="0"/>
            <a:ext cx="1977840" cy="357840"/>
          </a:xfrm>
          <a:custGeom>
            <a:avLst/>
            <a:gdLst>
              <a:gd name="textAreaLeft" fmla="*/ 0 w 1977840"/>
              <a:gd name="textAreaRight" fmla="*/ 1980360 w 1977840"/>
              <a:gd name="textAreaTop" fmla="*/ 0 h 357840"/>
              <a:gd name="textAreaBottom" fmla="*/ 360360 h 357840"/>
            </a:gdLst>
            <a:ahLst/>
            <a:cxnLst/>
            <a:rect l="textAreaLeft" t="textAreaTop" r="textAreaRight" b="textAreaBottom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7" name="Freeform: Shape 34"/>
          <p:cNvSpPr/>
          <p:nvPr/>
        </p:nvSpPr>
        <p:spPr>
          <a:xfrm>
            <a:off x="6480000" y="0"/>
            <a:ext cx="3597840" cy="2697840"/>
          </a:xfrm>
          <a:custGeom>
            <a:avLst/>
            <a:gdLst>
              <a:gd name="textAreaLeft" fmla="*/ 0 w 3597840"/>
              <a:gd name="textAreaRight" fmla="*/ 3600360 w 3597840"/>
              <a:gd name="textAreaTop" fmla="*/ 0 h 2697840"/>
              <a:gd name="textAreaBottom" fmla="*/ 2700360 h 2697840"/>
            </a:gdLst>
            <a:ahLst/>
            <a:cxnLst/>
            <a:rect l="textAreaLeft" t="textAreaTop" r="textAreaRight" b="textAreaBottom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8" name="Freeform: Shape 35"/>
          <p:cNvSpPr/>
          <p:nvPr/>
        </p:nvSpPr>
        <p:spPr>
          <a:xfrm>
            <a:off x="8100000" y="2340000"/>
            <a:ext cx="1977840" cy="3327840"/>
          </a:xfrm>
          <a:custGeom>
            <a:avLst/>
            <a:gdLst>
              <a:gd name="textAreaLeft" fmla="*/ 0 w 1977840"/>
              <a:gd name="textAreaRight" fmla="*/ 1980360 w 1977840"/>
              <a:gd name="textAreaTop" fmla="*/ 0 h 3327840"/>
              <a:gd name="textAreaBottom" fmla="*/ 3330360 h 3327840"/>
            </a:gdLst>
            <a:ahLst/>
            <a:cxnLst/>
            <a:rect l="textAreaLeft" t="textAreaTop" r="textAreaRight" b="textAreaBottom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39" name="Freeform: Shape 36"/>
          <p:cNvSpPr/>
          <p:nvPr/>
        </p:nvSpPr>
        <p:spPr>
          <a:xfrm>
            <a:off x="5940000" y="5220000"/>
            <a:ext cx="1797480" cy="447840"/>
          </a:xfrm>
          <a:custGeom>
            <a:avLst/>
            <a:gdLst>
              <a:gd name="textAreaLeft" fmla="*/ 0 w 1797480"/>
              <a:gd name="textAreaRight" fmla="*/ 1800000 w 1797480"/>
              <a:gd name="textAreaTop" fmla="*/ 0 h 447840"/>
              <a:gd name="textAreaBottom" fmla="*/ 450360 h 447840"/>
            </a:gdLst>
            <a:ahLst/>
            <a:cxnLst/>
            <a:rect l="textAreaLeft" t="textAreaTop" r="textAreaRight" b="textAreaBottom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0" name="Freeform: Shape 37"/>
          <p:cNvSpPr/>
          <p:nvPr/>
        </p:nvSpPr>
        <p:spPr>
          <a:xfrm>
            <a:off x="0" y="3240000"/>
            <a:ext cx="3237840" cy="2427840"/>
          </a:xfrm>
          <a:custGeom>
            <a:avLst/>
            <a:gdLst>
              <a:gd name="textAreaLeft" fmla="*/ 0 w 3237840"/>
              <a:gd name="textAreaRight" fmla="*/ 3240360 w 3237840"/>
              <a:gd name="textAreaTop" fmla="*/ 0 h 2427840"/>
              <a:gd name="textAreaBottom" fmla="*/ 2430360 h 2427840"/>
            </a:gdLst>
            <a:ahLst/>
            <a:cxnLst/>
            <a:rect l="textAreaLeft" t="textAreaTop" r="textAreaRight" b="textAreaBottom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7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7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499"/>
              </a:spcBef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99"/>
              </a:spcBef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C617D5-84DF-4DE8-9B85-E753BFAB41F7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3"/>
          <p:cNvSpPr/>
          <p:nvPr/>
        </p:nvSpPr>
        <p:spPr>
          <a:xfrm>
            <a:off x="0" y="0"/>
            <a:ext cx="1077840" cy="3417840"/>
          </a:xfrm>
          <a:custGeom>
            <a:avLst/>
            <a:gdLst>
              <a:gd name="textAreaLeft" fmla="*/ 0 w 1077840"/>
              <a:gd name="textAreaRight" fmla="*/ 1080360 w 1077840"/>
              <a:gd name="textAreaTop" fmla="*/ 0 h 3417840"/>
              <a:gd name="textAreaBottom" fmla="*/ 3420360 h 3417840"/>
            </a:gdLst>
            <a:ahLst/>
            <a:cxnLst/>
            <a:rect l="textAreaLeft" t="textAreaTop" r="textAreaRight" b="textAreaBottom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7" name="Freeform: Shape 44"/>
          <p:cNvSpPr/>
          <p:nvPr/>
        </p:nvSpPr>
        <p:spPr>
          <a:xfrm>
            <a:off x="7740000" y="0"/>
            <a:ext cx="2337840" cy="1617840"/>
          </a:xfrm>
          <a:custGeom>
            <a:avLst/>
            <a:gdLst>
              <a:gd name="textAreaLeft" fmla="*/ 0 w 2337840"/>
              <a:gd name="textAreaRight" fmla="*/ 2340360 w 2337840"/>
              <a:gd name="textAreaTop" fmla="*/ 0 h 1617840"/>
              <a:gd name="textAreaBottom" fmla="*/ 1620360 h 1617840"/>
            </a:gdLst>
            <a:ahLst/>
            <a:cxnLst/>
            <a:rect l="textAreaLeft" t="textAreaTop" r="textAreaRight" b="textAreaBottom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8" name="Freeform: Shape 45"/>
          <p:cNvSpPr/>
          <p:nvPr/>
        </p:nvSpPr>
        <p:spPr>
          <a:xfrm>
            <a:off x="9000000" y="2520000"/>
            <a:ext cx="1077840" cy="3147840"/>
          </a:xfrm>
          <a:custGeom>
            <a:avLst/>
            <a:gdLst>
              <a:gd name="textAreaLeft" fmla="*/ 0 w 1077840"/>
              <a:gd name="textAreaRight" fmla="*/ 1080360 w 1077840"/>
              <a:gd name="textAreaTop" fmla="*/ 0 h 3147840"/>
              <a:gd name="textAreaBottom" fmla="*/ 3150360 h 3147840"/>
            </a:gdLst>
            <a:ahLst/>
            <a:cxnLst/>
            <a:rect l="textAreaLeft" t="textAreaTop" r="textAreaRight" b="textAreaBottom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49" name="Freeform: Shape 46"/>
          <p:cNvSpPr/>
          <p:nvPr/>
        </p:nvSpPr>
        <p:spPr>
          <a:xfrm>
            <a:off x="0" y="4320000"/>
            <a:ext cx="1977840" cy="1347840"/>
          </a:xfrm>
          <a:custGeom>
            <a:avLst/>
            <a:gdLst>
              <a:gd name="textAreaLeft" fmla="*/ 0 w 1977840"/>
              <a:gd name="textAreaRight" fmla="*/ 1980360 w 1977840"/>
              <a:gd name="textAreaTop" fmla="*/ 0 h 1347840"/>
              <a:gd name="textAreaBottom" fmla="*/ 1350360 h 1347840"/>
            </a:gdLst>
            <a:ahLst/>
            <a:cxnLst/>
            <a:rect l="textAreaLeft" t="textAreaTop" r="textAreaRight" b="textAreaBottom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1" lang="en-US" sz="1400" strike="noStrike" u="none">
              <a:solidFill>
                <a:srgbClr val="dddddd"/>
              </a:solidFill>
              <a:effectLst/>
              <a:uFillTx/>
              <a:latin typeface="DejaVu Sans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374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9BF9A9-E3C2-41A5-81D6-68BEB2BB50B4}" type="slidenum">
              <a:rPr b="0" lang="en-US" sz="1400" strike="noStrike" u="none">
                <a:solidFill>
                  <a:srgbClr val="dddddd"/>
                </a:solidFill>
                <a:effectLst/>
                <a:uFillTx/>
                <a:latin typeface="DejaVu Sans"/>
                <a:ea typeface="DejaVu Sans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3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001"/>
              </a:spcBef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499"/>
              </a:spcBef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99"/>
              </a:spcBef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99"/>
              </a:spcBef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499"/>
              </a:spcBef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65080" y="362160"/>
            <a:ext cx="659016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Project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75120" y="1172520"/>
            <a:ext cx="9370080" cy="415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Urban Ride : Online Car Rental Management System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Members: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   1426 : Ikrama Kathiyara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1437 : Rudra Padhiyar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1452 : Fahad Shaikh  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r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Mentor: Prof. Shreyas Trivedi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A1600D-A20A-41F4-9268-F276D8946AE1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34600" y="1144440"/>
            <a:ext cx="508032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Project Proposal &amp; Planning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371600" y="2514600"/>
            <a:ext cx="7541280" cy="240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We aim to develop a car rental platform , that lets users rent cars for a specific time.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defTabSz="91440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system will provide administrative tools for managing vehicles , bookings and users.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F10550-4E4B-4D62-82CE-F24A49C5302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473040"/>
            <a:ext cx="863748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Problem Statment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Traditional car rental systems often rely on manual or semi-digital processes that are inefficient, time-consuming, and prone to errors.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Customers lack access to real-time vehicle availability, while service providers face challenges in managing bookings and vehicle data.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This project proposes the development of a web-based car rental platform to streamline rental operations and improve user experience.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2CE3CA-95A6-4CD5-95BB-952D0BC345C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473040"/>
            <a:ext cx="863748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Analysis (Existing System)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existing car rental systems primarily rely on manual processes or basic digital tools such as phone calls , paper records , and spreadsheets.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Customers are required to contact the rental service provider directly to inquire about vehicle availability, pricing and booking details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Real examples of existing systems and how we are different: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Olacabs : does not allow self-drive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Zoomcar : does not allow web platform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366DF-AB6C-41F1-82B4-C68CE3B234C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473040"/>
            <a:ext cx="863748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Analysis (Proposed System)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proposed system is a web-based car rental platform designed to overcome the limitations of the existing system by automating rental operationss and providing a centralized digital solution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The system allows customers to browse available vehicles, make booking online , and manage their reservations conveniently.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Administrators can manage vehicles , users, and bookings through a secure dashboard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698D6-95EC-459C-B89E-EABA3FB18EF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Modules and submodules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Placeholder 2"/>
          <p:cNvSpPr/>
          <p:nvPr/>
        </p:nvSpPr>
        <p:spPr>
          <a:xfrm>
            <a:off x="661680" y="1834200"/>
            <a:ext cx="8637480" cy="30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Module: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registration/login/logout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User profile management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Password reset and authentication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Role management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Car module: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Add/Remove cars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Update car information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car availability status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748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Modules and submodules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0000" y="1388880"/>
            <a:ext cx="8637480" cy="383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Booking Module: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Search available cars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Select rental date and duration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Create new Booking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Modify booking details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Cancel booking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Booking confirmation and status update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Admin module: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Admin login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users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cars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FreeSans"/>
                <a:ea typeface="DejaVu Sans"/>
              </a:rPr>
              <a:t>Manage bookings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0000" y="35784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Technical Specification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748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Frontend: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HTML,CSS,JS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ReactJS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Backend: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NodeJS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Firebase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CA7259-C50E-4EF8-B7E6-ACBB5CAE8B6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-21600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System Design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65" descr=""/>
          <p:cNvPicPr/>
          <p:nvPr/>
        </p:nvPicPr>
        <p:blipFill>
          <a:blip r:embed="rId1"/>
          <a:srcRect l="1129" t="3636" r="2119" b="3636"/>
          <a:stretch/>
        </p:blipFill>
        <p:spPr>
          <a:xfrm>
            <a:off x="1143360" y="666720"/>
            <a:ext cx="7542000" cy="48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189E7C-C969-43ED-B004-1B9313D6AC6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-21600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Use-Case Diagram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67" descr=""/>
          <p:cNvPicPr/>
          <p:nvPr/>
        </p:nvPicPr>
        <p:blipFill>
          <a:blip r:embed="rId1"/>
          <a:srcRect l="5548" t="2545" r="28489" b="44435"/>
          <a:stretch/>
        </p:blipFill>
        <p:spPr>
          <a:xfrm>
            <a:off x="2286360" y="501840"/>
            <a:ext cx="4798800" cy="499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B2FD02-5DB0-4B66-B2E9-9EFA0B33AC4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61920" y="-215280"/>
            <a:ext cx="8637480" cy="9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Admin use-case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69" descr=""/>
          <p:cNvPicPr/>
          <p:nvPr/>
        </p:nvPicPr>
        <p:blipFill>
          <a:blip r:embed="rId1"/>
          <a:srcRect l="0" t="17824" r="23708" b="16675"/>
          <a:stretch/>
        </p:blipFill>
        <p:spPr>
          <a:xfrm>
            <a:off x="2057400" y="457200"/>
            <a:ext cx="5248440" cy="525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D8B646-E0E4-4109-AA94-5FF72E78A5F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35784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Class Diagram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71" descr=""/>
          <p:cNvPicPr/>
          <p:nvPr/>
        </p:nvPicPr>
        <p:blipFill>
          <a:blip r:embed="rId1"/>
          <a:srcRect l="23761" t="11015" r="28697" b="41237"/>
          <a:stretch/>
        </p:blipFill>
        <p:spPr>
          <a:xfrm>
            <a:off x="3200400" y="1143000"/>
            <a:ext cx="3198240" cy="41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A0004-9452-4544-B18B-C4401E1DA39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-23040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Activity Diagram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73" descr=""/>
          <p:cNvPicPr/>
          <p:nvPr/>
        </p:nvPicPr>
        <p:blipFill>
          <a:blip r:embed="rId1"/>
          <a:srcRect l="36518" t="7273" r="16524" b="20162"/>
          <a:stretch/>
        </p:blipFill>
        <p:spPr>
          <a:xfrm>
            <a:off x="4343400" y="457200"/>
            <a:ext cx="2606040" cy="521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EFE9C3-C55F-4280-9069-FA1F174FB74D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0000" y="357840"/>
            <a:ext cx="8637480" cy="90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Data Dictionary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75"/>
          <p:cNvGraphicFramePr/>
          <p:nvPr/>
        </p:nvGraphicFramePr>
        <p:xfrm>
          <a:off x="840240" y="1945800"/>
          <a:ext cx="8195040" cy="2928960"/>
        </p:xfrm>
        <a:graphic>
          <a:graphicData uri="http://schemas.openxmlformats.org/drawingml/2006/table">
            <a:tbl>
              <a:tblPr/>
              <a:tblGrid>
                <a:gridCol w="4097520"/>
                <a:gridCol w="409788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name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Name of the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email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Email of the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phone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Phone number of the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role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Role of the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Timestamp of creation time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profileImage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Profile image of user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verified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The user has verified his email or not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3" name="Rectangle 76"/>
          <p:cNvSpPr/>
          <p:nvPr/>
        </p:nvSpPr>
        <p:spPr>
          <a:xfrm>
            <a:off x="2514600" y="1259640"/>
            <a:ext cx="502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users collection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A37BB-BDA9-42BA-990F-D0232796021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33680" y="-215280"/>
            <a:ext cx="8637480" cy="9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cars collection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Table 78"/>
          <p:cNvGraphicFramePr/>
          <p:nvPr/>
        </p:nvGraphicFramePr>
        <p:xfrm>
          <a:off x="804240" y="528840"/>
          <a:ext cx="9025200" cy="5125680"/>
        </p:xfrm>
        <a:graphic>
          <a:graphicData uri="http://schemas.openxmlformats.org/drawingml/2006/table">
            <a:tbl>
              <a:tblPr/>
              <a:tblGrid>
                <a:gridCol w="3533400"/>
                <a:gridCol w="5492160"/>
              </a:tblGrid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brand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Brand of the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model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model of the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year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Year of purchase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type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type of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seats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seats of card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fuelType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diesel or petrol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transmission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manual or auto gear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pricePerDay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 per day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location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location of car , includes object with city and area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images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images of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features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list of features of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isAvailable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 is available or not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344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timestamp of car entry creation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5C720-8877-434A-BB54-820DFE413DC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34400" y="-720"/>
            <a:ext cx="8637480" cy="9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bookings collection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Table 80"/>
          <p:cNvGraphicFramePr/>
          <p:nvPr/>
        </p:nvGraphicFramePr>
        <p:xfrm>
          <a:off x="713520" y="962640"/>
          <a:ext cx="8638920" cy="4301640"/>
        </p:xfrm>
        <a:graphic>
          <a:graphicData uri="http://schemas.openxmlformats.org/drawingml/2006/table">
            <a:tbl>
              <a:tblPr/>
              <a:tblGrid>
                <a:gridCol w="3740040"/>
                <a:gridCol w="489924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user who booked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car being booked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startDate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starting of the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endDate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ending of the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totalDays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 days of the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pricePerDay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price per day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totalPrice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total price of the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status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status of the booking(pending,confirm,cancelled)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pickupLocation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pickup location of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 time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2F651-5BAB-49E8-97E9-23C2A0FA4D2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358200"/>
            <a:ext cx="8637480" cy="9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FreeSans"/>
                <a:ea typeface="DejaVu Sans"/>
              </a:rPr>
              <a:t>reviews collection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Table 82"/>
          <p:cNvGraphicFramePr/>
          <p:nvPr/>
        </p:nvGraphicFramePr>
        <p:xfrm>
          <a:off x="675720" y="1776600"/>
          <a:ext cx="8638920" cy="2562840"/>
        </p:xfrm>
        <a:graphic>
          <a:graphicData uri="http://schemas.openxmlformats.org/drawingml/2006/table">
            <a:tbl>
              <a:tblPr/>
              <a:tblGrid>
                <a:gridCol w="4319640"/>
                <a:gridCol w="431964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reviewId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review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bookingId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id of booking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car which was booked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userId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user who booked the car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rating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rating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comment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text describing the review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000"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createdAt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ans"/>
                          <a:ea typeface="DejaVu Sans"/>
                        </a:rPr>
                        <a:t>time of review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3693C1-CF99-465D-A234-6347893C3E7B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Application>LibreOffice/25.8.1.1$Windows_X86_64 LibreOffice_project/54047653041915e595ad4e45cccea684809c77b5</Application>
  <AppVersion>15.0000</AppVersion>
  <Words>604</Words>
  <Paragraphs>164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2026-01-28T10:19:45Z</dcterms:created>
  <dc:creator>ikrama kathiyara</dc:creator>
  <dc:description>This work is licensed under a Creative Commons-0 licence.
It makes use of the works of Zirk.</dc:description>
  <dc:language>en-US</dc:language>
  <cp:lastModifiedBy/>
  <dcterms:modified xsi:type="dcterms:W3CDTF">2026-01-29T16:04:23Z</dcterms:modified>
  <cp:revision>34</cp:revision>
  <dc:subject/>
  <dc:title>Focus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17</vt:i4>
  </property>
</Properties>
</file>